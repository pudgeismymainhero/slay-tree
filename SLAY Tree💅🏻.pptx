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D129-A8C2-419E-B641-6CC90F5073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524000"/>
            <a:ext cx="10668000" cy="22860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33C04-8A23-4499-A6EF-1D190F0FB3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1999"/>
            <a:ext cx="10668000" cy="15240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A99FB-5674-4BC5-949F-8D45EC167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F93-DD67-4FE2-8083-864693FE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5E934-32B6-44B1-9622-67F30BDA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638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AF011-A499-4054-89BF-A4800A68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FB6E8-D956-45B5-9B4A-9D31DF466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DB9DB-9E62-4292-915C-1DD413474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462F1-BC30-4172-8353-363123A1D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2EE8A-96DF-4D7D-B434-77832475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007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8453A-F2B4-4EDB-B8FA-150267BC1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10668000" cy="3038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46C51-ADF1-48FC-A4D9-38C369E78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4589463"/>
            <a:ext cx="10668000" cy="150653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43B56-4DC7-490B-AEFD-55ED1ECFF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738F8-C4B2-41D8-B627-A6DDB24B2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43D49-23F8-4C4B-9C30-EDC030EE6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22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5556D-6916-42E6-8820-8A0D328A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747A5-C962-477F-89AA-A32385D57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285999"/>
            <a:ext cx="5151119" cy="38100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D08312-30FC-44D8-B2A9-B5CAAD9F0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879" y="2285999"/>
            <a:ext cx="5151121" cy="38100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D84EB-AF90-4F19-A376-0FE5E50F9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838ED0-2789-41E4-A36E-83F92CA2E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21A83-6D60-45F0-9173-5F6D2438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62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FFAE2-03F4-4A94-86C4-9305B237C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AC5A5-E184-46B6-8AB5-C8E132D3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5999"/>
            <a:ext cx="5151119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CFE87-5D80-45CB-9D13-DFC9AFCEC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000" y="3048000"/>
            <a:ext cx="5151119" cy="3048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AC1E5A-8423-4749-8EDA-E13425F69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8878" y="2286000"/>
            <a:ext cx="5151122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32AAA-4BB8-4A3D-9C79-516F82F80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8878" y="3048000"/>
            <a:ext cx="5151122" cy="3048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0BEC63-51D3-4C70-B804-BE9EF765A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5CA295-8563-402F-92C3-1F20C977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A5918-109D-4342-84C0-9774A52C9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876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F2662-CBD1-4498-9B6E-2961F5EF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F739AE-8101-4C18-8CF3-911BDF39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EB1C88-D181-449C-9BE1-E85068C18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38A2C9-E93B-4F0A-A021-9E3AEBC3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669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0AE8D9-9B42-438E-ADA6-CCFE4578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F792B9-A8AF-4E13-8A25-741E89691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2CF6-DBC5-4491-B213-B3CD09D3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14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27076-58C8-494C-B6B1-DC86F62DD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1998"/>
            <a:ext cx="3810000" cy="1524002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9E36-0340-452F-8D0A-1BC3F3A38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1"/>
            <a:ext cx="6096000" cy="5334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51C2E-E587-45E8-BDB1-DFF2F2791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0" y="2286000"/>
            <a:ext cx="3810000" cy="38100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1D993-DEDD-470E-B48B-CB053A55A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26C64-7401-4CA4-859F-74472AF8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108F41-F1F6-431C-9B45-8A447F188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64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04FB-422C-4023-9381-EB12F158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762000"/>
            <a:ext cx="3809999" cy="1524000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BA3AA-DE44-4B1F-91D1-09F67B89B9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0" y="762001"/>
            <a:ext cx="6021388" cy="5334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27B131-5117-4106-80DB-2AB208C4C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1" y="2286000"/>
            <a:ext cx="3809999" cy="3810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3918A-7F23-4C72-8E80-591324A3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071C8-76FE-4B83-8317-BD53C7C84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23681A-6F29-48FC-9409-319ED3E96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23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5B09-FC60-445F-8A12-79869BEC6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A219F7-87F2-409F-BB0B-8FE9270C9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C2BB8-59E0-4EB2-B3BE-59D8641E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6984E-C0DE-461B-8011-8FC31B0EE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E7C03-68D3-445E-A5A2-8A935CFC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59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1F0D7-112D-48B1-B32B-170B1AA2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3998" y="761999"/>
            <a:ext cx="2286000" cy="53340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7A7C1-8E5B-41DA-9802-F242D382B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1" y="761999"/>
            <a:ext cx="7619999" cy="53340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61CC7-F5B1-464A-8127-60645FB21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94302-B381-4F37-A9FF-5CC551917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07151-541F-4104-B989-83A9DCA6E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090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6EF5A53-0A64-4CA5-B9C7-1CB97CB5CF1C}"/>
              </a:ext>
            </a:extLst>
          </p:cNvPr>
          <p:cNvSpPr/>
          <p:nvPr/>
        </p:nvSpPr>
        <p:spPr>
          <a:xfrm>
            <a:off x="8157843" y="6244836"/>
            <a:ext cx="4034156" cy="613164"/>
          </a:xfrm>
          <a:custGeom>
            <a:avLst/>
            <a:gdLst>
              <a:gd name="connsiteX0" fmla="*/ 1479137 w 4034156"/>
              <a:gd name="connsiteY0" fmla="*/ 230 h 613164"/>
              <a:gd name="connsiteX1" fmla="*/ 3482844 w 4034156"/>
              <a:gd name="connsiteY1" fmla="*/ 298555 h 613164"/>
              <a:gd name="connsiteX2" fmla="*/ 3831590 w 4034156"/>
              <a:gd name="connsiteY2" fmla="*/ 425010 h 613164"/>
              <a:gd name="connsiteX3" fmla="*/ 4034156 w 4034156"/>
              <a:gd name="connsiteY3" fmla="*/ 494088 h 613164"/>
              <a:gd name="connsiteX4" fmla="*/ 4034156 w 4034156"/>
              <a:gd name="connsiteY4" fmla="*/ 613164 h 613164"/>
              <a:gd name="connsiteX5" fmla="*/ 0 w 4034156"/>
              <a:gd name="connsiteY5" fmla="*/ 613164 h 613164"/>
              <a:gd name="connsiteX6" fmla="*/ 54792 w 4034156"/>
              <a:gd name="connsiteY6" fmla="*/ 512415 h 613164"/>
              <a:gd name="connsiteX7" fmla="*/ 168327 w 4034156"/>
              <a:gd name="connsiteY7" fmla="*/ 366637 h 613164"/>
              <a:gd name="connsiteX8" fmla="*/ 1192562 w 4034156"/>
              <a:gd name="connsiteY8" fmla="*/ 1522 h 613164"/>
              <a:gd name="connsiteX9" fmla="*/ 1479137 w 4034156"/>
              <a:gd name="connsiteY9" fmla="*/ 230 h 613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34156" h="613164">
                <a:moveTo>
                  <a:pt x="1479137" y="230"/>
                </a:moveTo>
                <a:cubicBezTo>
                  <a:pt x="2152575" y="4287"/>
                  <a:pt x="2854487" y="63583"/>
                  <a:pt x="3482844" y="298555"/>
                </a:cubicBezTo>
                <a:cubicBezTo>
                  <a:pt x="3599338" y="342114"/>
                  <a:pt x="3715540" y="384216"/>
                  <a:pt x="3831590" y="425010"/>
                </a:cubicBezTo>
                <a:lnTo>
                  <a:pt x="4034156" y="494088"/>
                </a:lnTo>
                <a:lnTo>
                  <a:pt x="4034156" y="613164"/>
                </a:lnTo>
                <a:lnTo>
                  <a:pt x="0" y="613164"/>
                </a:lnTo>
                <a:lnTo>
                  <a:pt x="54792" y="512415"/>
                </a:lnTo>
                <a:cubicBezTo>
                  <a:pt x="88888" y="459433"/>
                  <a:pt x="126502" y="410480"/>
                  <a:pt x="168327" y="366637"/>
                </a:cubicBezTo>
                <a:cubicBezTo>
                  <a:pt x="428292" y="94062"/>
                  <a:pt x="821899" y="6565"/>
                  <a:pt x="1192562" y="1522"/>
                </a:cubicBezTo>
                <a:cubicBezTo>
                  <a:pt x="1287308" y="198"/>
                  <a:pt x="1382932" y="-349"/>
                  <a:pt x="1479137" y="23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4ABFBEA-4EB0-4D02-A2C0-1733CD3D6F12}"/>
              </a:ext>
            </a:extLst>
          </p:cNvPr>
          <p:cNvSpPr/>
          <p:nvPr/>
        </p:nvSpPr>
        <p:spPr>
          <a:xfrm>
            <a:off x="1" y="688126"/>
            <a:ext cx="448491" cy="1634252"/>
          </a:xfrm>
          <a:custGeom>
            <a:avLst/>
            <a:gdLst>
              <a:gd name="connsiteX0" fmla="*/ 0 w 448491"/>
              <a:gd name="connsiteY0" fmla="*/ 0 h 1634252"/>
              <a:gd name="connsiteX1" fmla="*/ 12983 w 448491"/>
              <a:gd name="connsiteY1" fmla="*/ 10508 h 1634252"/>
              <a:gd name="connsiteX2" fmla="*/ 441611 w 448491"/>
              <a:gd name="connsiteY2" fmla="*/ 863751 h 1634252"/>
              <a:gd name="connsiteX3" fmla="*/ 251011 w 448491"/>
              <a:gd name="connsiteY3" fmla="*/ 1302895 h 1634252"/>
              <a:gd name="connsiteX4" fmla="*/ 74605 w 448491"/>
              <a:gd name="connsiteY4" fmla="*/ 1543249 h 1634252"/>
              <a:gd name="connsiteX5" fmla="*/ 0 w 448491"/>
              <a:gd name="connsiteY5" fmla="*/ 1634252 h 163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8491" h="1634252">
                <a:moveTo>
                  <a:pt x="0" y="0"/>
                </a:moveTo>
                <a:lnTo>
                  <a:pt x="12983" y="10508"/>
                </a:lnTo>
                <a:cubicBezTo>
                  <a:pt x="278410" y="241022"/>
                  <a:pt x="489787" y="530267"/>
                  <a:pt x="441611" y="863751"/>
                </a:cubicBezTo>
                <a:cubicBezTo>
                  <a:pt x="418542" y="1022632"/>
                  <a:pt x="337007" y="1166302"/>
                  <a:pt x="251011" y="1302895"/>
                </a:cubicBezTo>
                <a:cubicBezTo>
                  <a:pt x="215138" y="1359902"/>
                  <a:pt x="154723" y="1442480"/>
                  <a:pt x="74605" y="1543249"/>
                </a:cubicBezTo>
                <a:lnTo>
                  <a:pt x="0" y="16342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>
              <a:solidFill>
                <a:prstClr val="white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9E083F6-57F4-487B-A766-EA0462B1EED8}"/>
              </a:ext>
            </a:extLst>
          </p:cNvPr>
          <p:cNvSpPr/>
          <p:nvPr/>
        </p:nvSpPr>
        <p:spPr>
          <a:xfrm>
            <a:off x="7309459" y="6144069"/>
            <a:ext cx="4418271" cy="718159"/>
          </a:xfrm>
          <a:custGeom>
            <a:avLst/>
            <a:gdLst>
              <a:gd name="connsiteX0" fmla="*/ 1421452 w 4590626"/>
              <a:gd name="connsiteY0" fmla="*/ 0 h 713930"/>
              <a:gd name="connsiteX1" fmla="*/ 3247781 w 4590626"/>
              <a:gd name="connsiteY1" fmla="*/ 271915 h 713930"/>
              <a:gd name="connsiteX2" fmla="*/ 4517331 w 4590626"/>
              <a:gd name="connsiteY2" fmla="*/ 693394 h 713930"/>
              <a:gd name="connsiteX3" fmla="*/ 4590626 w 4590626"/>
              <a:gd name="connsiteY3" fmla="*/ 713930 h 713930"/>
              <a:gd name="connsiteX4" fmla="*/ 0 w 4590626"/>
              <a:gd name="connsiteY4" fmla="*/ 713930 h 713930"/>
              <a:gd name="connsiteX5" fmla="*/ 2854 w 4590626"/>
              <a:gd name="connsiteY5" fmla="*/ 705624 h 713930"/>
              <a:gd name="connsiteX6" fmla="*/ 226680 w 4590626"/>
              <a:gd name="connsiteY6" fmla="*/ 333970 h 713930"/>
              <a:gd name="connsiteX7" fmla="*/ 1160245 w 4590626"/>
              <a:gd name="connsiteY7" fmla="*/ 1178 h 713930"/>
              <a:gd name="connsiteX8" fmla="*/ 1421452 w 4590626"/>
              <a:gd name="connsiteY8" fmla="*/ 0 h 713930"/>
              <a:gd name="connsiteX0" fmla="*/ 1421452 w 4517331"/>
              <a:gd name="connsiteY0" fmla="*/ 0 h 713930"/>
              <a:gd name="connsiteX1" fmla="*/ 3247781 w 4517331"/>
              <a:gd name="connsiteY1" fmla="*/ 271915 h 713930"/>
              <a:gd name="connsiteX2" fmla="*/ 4517331 w 4517331"/>
              <a:gd name="connsiteY2" fmla="*/ 693394 h 713930"/>
              <a:gd name="connsiteX3" fmla="*/ 0 w 4517331"/>
              <a:gd name="connsiteY3" fmla="*/ 713930 h 713930"/>
              <a:gd name="connsiteX4" fmla="*/ 2854 w 4517331"/>
              <a:gd name="connsiteY4" fmla="*/ 705624 h 713930"/>
              <a:gd name="connsiteX5" fmla="*/ 226680 w 4517331"/>
              <a:gd name="connsiteY5" fmla="*/ 333970 h 713930"/>
              <a:gd name="connsiteX6" fmla="*/ 1160245 w 4517331"/>
              <a:gd name="connsiteY6" fmla="*/ 1178 h 713930"/>
              <a:gd name="connsiteX7" fmla="*/ 1421452 w 4517331"/>
              <a:gd name="connsiteY7" fmla="*/ 0 h 713930"/>
              <a:gd name="connsiteX0" fmla="*/ 0 w 4608771"/>
              <a:gd name="connsiteY0" fmla="*/ 713930 h 784834"/>
              <a:gd name="connsiteX1" fmla="*/ 2854 w 4608771"/>
              <a:gd name="connsiteY1" fmla="*/ 705624 h 784834"/>
              <a:gd name="connsiteX2" fmla="*/ 226680 w 4608771"/>
              <a:gd name="connsiteY2" fmla="*/ 333970 h 784834"/>
              <a:gd name="connsiteX3" fmla="*/ 1160245 w 4608771"/>
              <a:gd name="connsiteY3" fmla="*/ 1178 h 784834"/>
              <a:gd name="connsiteX4" fmla="*/ 1421452 w 4608771"/>
              <a:gd name="connsiteY4" fmla="*/ 0 h 784834"/>
              <a:gd name="connsiteX5" fmla="*/ 3247781 w 4608771"/>
              <a:gd name="connsiteY5" fmla="*/ 271915 h 784834"/>
              <a:gd name="connsiteX6" fmla="*/ 4608771 w 4608771"/>
              <a:gd name="connsiteY6" fmla="*/ 784834 h 784834"/>
              <a:gd name="connsiteX0" fmla="*/ 0 w 4418271"/>
              <a:gd name="connsiteY0" fmla="*/ 713930 h 718159"/>
              <a:gd name="connsiteX1" fmla="*/ 2854 w 4418271"/>
              <a:gd name="connsiteY1" fmla="*/ 705624 h 718159"/>
              <a:gd name="connsiteX2" fmla="*/ 226680 w 4418271"/>
              <a:gd name="connsiteY2" fmla="*/ 333970 h 718159"/>
              <a:gd name="connsiteX3" fmla="*/ 1160245 w 4418271"/>
              <a:gd name="connsiteY3" fmla="*/ 1178 h 718159"/>
              <a:gd name="connsiteX4" fmla="*/ 1421452 w 4418271"/>
              <a:gd name="connsiteY4" fmla="*/ 0 h 718159"/>
              <a:gd name="connsiteX5" fmla="*/ 3247781 w 4418271"/>
              <a:gd name="connsiteY5" fmla="*/ 271915 h 718159"/>
              <a:gd name="connsiteX6" fmla="*/ 4418271 w 4418271"/>
              <a:gd name="connsiteY6" fmla="*/ 718159 h 718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18271" h="718159">
                <a:moveTo>
                  <a:pt x="0" y="713930"/>
                </a:moveTo>
                <a:lnTo>
                  <a:pt x="2854" y="705624"/>
                </a:lnTo>
                <a:cubicBezTo>
                  <a:pt x="60059" y="562888"/>
                  <a:pt x="131373" y="433874"/>
                  <a:pt x="226680" y="333970"/>
                </a:cubicBezTo>
                <a:cubicBezTo>
                  <a:pt x="463632" y="85526"/>
                  <a:pt x="822395" y="5774"/>
                  <a:pt x="1160245" y="1178"/>
                </a:cubicBezTo>
                <a:lnTo>
                  <a:pt x="1421452" y="0"/>
                </a:lnTo>
                <a:cubicBezTo>
                  <a:pt x="2035274" y="3698"/>
                  <a:pt x="2748311" y="152222"/>
                  <a:pt x="3247781" y="271915"/>
                </a:cubicBezTo>
                <a:cubicBezTo>
                  <a:pt x="3747251" y="391608"/>
                  <a:pt x="3902480" y="501606"/>
                  <a:pt x="4418271" y="718159"/>
                </a:cubicBezTo>
              </a:path>
            </a:pathLst>
          </a:cu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2F988-7148-4375-83D8-12EE5EBC7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96238-C5B3-4F3C-97FA-890E1A51A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6000"/>
            <a:ext cx="10668000" cy="3818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E4474-0442-4E4B-9E5B-CA7B3951C1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89165" y="194320"/>
            <a:ext cx="2040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76969C88-B244-455D-A017-012B25B1ACDD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26A98-F887-40E1-B9BA-9D93DE90E0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1999" y="6356350"/>
            <a:ext cx="6612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C8119-73F6-4713-9AD3-3628DCDFB8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52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07CE569E-9B7C-4CB9-AB80-C0841F922C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4553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480">
          <p15:clr>
            <a:srgbClr val="F26B43"/>
          </p15:clr>
        </p15:guide>
        <p15:guide id="3" pos="960">
          <p15:clr>
            <a:srgbClr val="F26B43"/>
          </p15:clr>
        </p15:guide>
        <p15:guide id="4" pos="1440">
          <p15:clr>
            <a:srgbClr val="F26B43"/>
          </p15:clr>
        </p15:guide>
        <p15:guide id="5" pos="1920">
          <p15:clr>
            <a:srgbClr val="F26B43"/>
          </p15:clr>
        </p15:guide>
        <p15:guide id="6" pos="2400">
          <p15:clr>
            <a:srgbClr val="F26B43"/>
          </p15:clr>
        </p15:guide>
        <p15:guide id="7" pos="2880">
          <p15:clr>
            <a:srgbClr val="F26B43"/>
          </p15:clr>
        </p15:guide>
        <p15:guide id="8" pos="3360">
          <p15:clr>
            <a:srgbClr val="F26B43"/>
          </p15:clr>
        </p15:guide>
        <p15:guide id="9" pos="3840">
          <p15:clr>
            <a:srgbClr val="F26B43"/>
          </p15:clr>
        </p15:guide>
        <p15:guide id="10" pos="4320">
          <p15:clr>
            <a:srgbClr val="F26B43"/>
          </p15:clr>
        </p15:guide>
        <p15:guide id="11" pos="4800">
          <p15:clr>
            <a:srgbClr val="F26B43"/>
          </p15:clr>
        </p15:guide>
        <p15:guide id="12" pos="5280">
          <p15:clr>
            <a:srgbClr val="F26B43"/>
          </p15:clr>
        </p15:guide>
        <p15:guide id="13" pos="5760">
          <p15:clr>
            <a:srgbClr val="F26B43"/>
          </p15:clr>
        </p15:guide>
        <p15:guide id="14" pos="6240">
          <p15:clr>
            <a:srgbClr val="F26B43"/>
          </p15:clr>
        </p15:guide>
        <p15:guide id="15" pos="6720">
          <p15:clr>
            <a:srgbClr val="F26B43"/>
          </p15:clr>
        </p15:guide>
        <p15:guide id="16" pos="7200">
          <p15:clr>
            <a:srgbClr val="F26B43"/>
          </p15:clr>
        </p15:guide>
        <p15:guide id="17" pos="7680">
          <p15:clr>
            <a:srgbClr val="F26B43"/>
          </p15:clr>
        </p15:guide>
        <p15:guide id="18" orient="horz">
          <p15:clr>
            <a:srgbClr val="F26B43"/>
          </p15:clr>
        </p15:guide>
        <p15:guide id="19" orient="horz" pos="480">
          <p15:clr>
            <a:srgbClr val="F26B43"/>
          </p15:clr>
        </p15:guide>
        <p15:guide id="20" orient="horz" pos="960">
          <p15:clr>
            <a:srgbClr val="F26B43"/>
          </p15:clr>
        </p15:guide>
        <p15:guide id="21" orient="horz" pos="1440">
          <p15:clr>
            <a:srgbClr val="F26B43"/>
          </p15:clr>
        </p15:guide>
        <p15:guide id="22" orient="horz" pos="1920">
          <p15:clr>
            <a:srgbClr val="F26B43"/>
          </p15:clr>
        </p15:guide>
        <p15:guide id="23" orient="horz" pos="2400">
          <p15:clr>
            <a:srgbClr val="F26B43"/>
          </p15:clr>
        </p15:guide>
        <p15:guide id="24" orient="horz" pos="2880">
          <p15:clr>
            <a:srgbClr val="F26B43"/>
          </p15:clr>
        </p15:guide>
        <p15:guide id="25" orient="horz" pos="3360">
          <p15:clr>
            <a:srgbClr val="F26B43"/>
          </p15:clr>
        </p15:guide>
        <p15:guide id="26" orient="horz" pos="3840">
          <p15:clr>
            <a:srgbClr val="F26B43"/>
          </p15:clr>
        </p15:guide>
        <p15:guide id="27" orient="horz" pos="432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mojidb.org/nails-emoji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emojidb.org/nails-emoji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mojidb.org/nails-emoji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10C4C8-8727-4A7A-A7E8-71CE90EFC8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SLAY Tree</a:t>
            </a:r>
            <a:r>
              <a:rPr lang="ru-RU" b="1" i="0" u="none" strike="noStrike" dirty="0">
                <a:solidFill>
                  <a:srgbClr val="FFFFFF"/>
                </a:solidFill>
                <a:effectLst/>
                <a:latin typeface="YS Text"/>
                <a:hlinkClick r:id="rId2"/>
              </a:rPr>
              <a:t>💅🏻</a:t>
            </a:r>
            <a:br>
              <a:rPr lang="ru-RU" b="1" i="0" u="none" strike="noStrike" dirty="0">
                <a:solidFill>
                  <a:srgbClr val="FFFFFF"/>
                </a:solidFill>
                <a:effectLst/>
                <a:latin typeface="YS Text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24D2264-DDE2-4EDF-AB07-8FFFC1512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Расширяющееся дерево</a:t>
            </a:r>
          </a:p>
        </p:txBody>
      </p:sp>
    </p:spTree>
    <p:extLst>
      <p:ext uri="{BB962C8B-B14F-4D97-AF65-F5344CB8AC3E}">
        <p14:creationId xmlns:p14="http://schemas.microsoft.com/office/powerpoint/2010/main" val="3162764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CE8204-311A-4132-A985-0816F2224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43015"/>
            <a:ext cx="10668000" cy="1524000"/>
          </a:xfrm>
        </p:spPr>
        <p:txBody>
          <a:bodyPr/>
          <a:lstStyle/>
          <a:p>
            <a:r>
              <a:rPr lang="en-US" dirty="0"/>
              <a:t>ctrl c + ctrl v </a:t>
            </a:r>
            <a:r>
              <a:rPr lang="ru-RU" dirty="0"/>
              <a:t>с вики</a:t>
            </a:r>
            <a:r>
              <a:rPr lang="ru-RU" b="1" i="0" u="none" strike="noStrike" dirty="0">
                <a:solidFill>
                  <a:srgbClr val="8BB4DD"/>
                </a:solidFill>
                <a:effectLst/>
                <a:latin typeface="YS Text"/>
                <a:hlinkClick r:id="rId2"/>
              </a:rPr>
              <a:t>💅🏻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8CCAC3-B8BF-462D-AFAB-DCA945AAA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775099"/>
            <a:ext cx="5193957" cy="4839886"/>
          </a:xfrm>
        </p:spPr>
        <p:txBody>
          <a:bodyPr>
            <a:normAutofit fontScale="62500" lnSpcReduction="20000"/>
          </a:bodyPr>
          <a:lstStyle/>
          <a:p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В середине восьмидесятых Роберт </a:t>
            </a:r>
            <a:r>
              <a:rPr lang="ru-RU" b="0" i="0" dirty="0" err="1">
                <a:solidFill>
                  <a:srgbClr val="DEDEDE"/>
                </a:solidFill>
                <a:effectLst/>
                <a:latin typeface="-apple-system"/>
              </a:rPr>
              <a:t>Тарьян</a:t>
            </a:r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 и Даниель </a:t>
            </a:r>
            <a:r>
              <a:rPr lang="ru-RU" b="0" i="0" dirty="0" err="1">
                <a:solidFill>
                  <a:srgbClr val="DEDEDE"/>
                </a:solidFill>
                <a:effectLst/>
                <a:latin typeface="-apple-system"/>
              </a:rPr>
              <a:t>Слейтор</a:t>
            </a:r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 предложили несколько красивых и эффективных структур данных. Все они имеют несложную базовую структуру и одну-две эвристики, которые их постоянно локально подправляют. </a:t>
            </a:r>
            <a:r>
              <a:rPr lang="ru-RU" b="0" i="0" dirty="0" err="1">
                <a:solidFill>
                  <a:srgbClr val="DEDEDE"/>
                </a:solidFill>
                <a:effectLst/>
                <a:latin typeface="-apple-system"/>
              </a:rPr>
              <a:t>Splay</a:t>
            </a:r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-дерево — одна из таких структур.</a:t>
            </a:r>
            <a:br>
              <a:rPr lang="ru-RU" dirty="0"/>
            </a:br>
            <a:br>
              <a:rPr lang="ru-RU" dirty="0"/>
            </a:br>
            <a:r>
              <a:rPr lang="ru-RU" b="0" i="0" dirty="0" err="1">
                <a:solidFill>
                  <a:srgbClr val="DEDEDE"/>
                </a:solidFill>
                <a:effectLst/>
                <a:latin typeface="-apple-system"/>
              </a:rPr>
              <a:t>Splay</a:t>
            </a:r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-дерево — это самобалансирующееся бинарное дерево поиска. Дереву не нужно хранить никакой дополнительной информации, что делает его эффективным по памяти. После каждого обращения, даже поиска, </a:t>
            </a:r>
            <a:r>
              <a:rPr lang="ru-RU" b="0" i="0" dirty="0" err="1">
                <a:solidFill>
                  <a:srgbClr val="DEDEDE"/>
                </a:solidFill>
                <a:effectLst/>
                <a:latin typeface="-apple-system"/>
              </a:rPr>
              <a:t>splay</a:t>
            </a:r>
            <a:r>
              <a:rPr lang="ru-RU" b="0" i="0" dirty="0">
                <a:solidFill>
                  <a:srgbClr val="DEDEDE"/>
                </a:solidFill>
                <a:effectLst/>
                <a:latin typeface="-apple-system"/>
              </a:rPr>
              <a:t>-дерево меняет свою структуру.</a:t>
            </a:r>
            <a:endParaRPr lang="ru-RU" b="1" dirty="0"/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5910F46F-AD94-4F95-AB11-42B022DCB2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099430" y="524725"/>
            <a:ext cx="3889846" cy="5808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2951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C748F1-F566-4A07-A7A7-0C9C001F5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Чё</a:t>
            </a:r>
            <a:r>
              <a:rPr lang="ru-RU" dirty="0"/>
              <a:t> делает</a:t>
            </a:r>
            <a:r>
              <a:rPr lang="ru-RU" b="1" i="0" u="none" strike="noStrike" dirty="0">
                <a:solidFill>
                  <a:srgbClr val="8BB4DD"/>
                </a:solidFill>
                <a:effectLst/>
                <a:latin typeface="YS Text"/>
                <a:hlinkClick r:id="rId2"/>
              </a:rPr>
              <a:t>💅🏻</a:t>
            </a:r>
            <a:br>
              <a:rPr lang="ru-RU" b="1" i="0" u="none" strike="noStrike" dirty="0">
                <a:solidFill>
                  <a:srgbClr val="8BB4DD"/>
                </a:solidFill>
                <a:effectLst/>
                <a:latin typeface="YS Text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8D82675-184B-46F8-8152-3014296D0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6941824"/>
      </p:ext>
    </p:extLst>
  </p:cSld>
  <p:clrMapOvr>
    <a:masterClrMapping/>
  </p:clrMapOvr>
</p:sld>
</file>

<file path=ppt/theme/theme1.xml><?xml version="1.0" encoding="utf-8"?>
<a:theme xmlns:a="http://schemas.openxmlformats.org/drawingml/2006/main" name="PebbleVTI">
  <a:themeElements>
    <a:clrScheme name="Blush 3">
      <a:dk1>
        <a:sysClr val="windowText" lastClr="000000"/>
      </a:dk1>
      <a:lt1>
        <a:sysClr val="window" lastClr="FFFFFF"/>
      </a:lt1>
      <a:dk2>
        <a:srgbClr val="B15E4E"/>
      </a:dk2>
      <a:lt2>
        <a:srgbClr val="FFFFFF"/>
      </a:lt2>
      <a:accent1>
        <a:srgbClr val="C5B096"/>
      </a:accent1>
      <a:accent2>
        <a:srgbClr val="ECA855"/>
      </a:accent2>
      <a:accent3>
        <a:srgbClr val="9BBFB0"/>
      </a:accent3>
      <a:accent4>
        <a:srgbClr val="A9AEA7"/>
      </a:accent4>
      <a:accent5>
        <a:srgbClr val="6A787C"/>
      </a:accent5>
      <a:accent6>
        <a:srgbClr val="3B4345"/>
      </a:accent6>
      <a:hlink>
        <a:srgbClr val="ECA855"/>
      </a:hlink>
      <a:folHlink>
        <a:srgbClr val="6A392F"/>
      </a:folHlink>
    </a:clrScheme>
    <a:fontScheme name="Custom 4">
      <a:majorFont>
        <a:latin typeface="Sitka Subheadi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ebbleVTI" id="{8B4DB91D-6BB4-4BA3-973A-733D3AF2680E}" vid="{9A19CF0D-2077-4BF4-BAA5-86934C336D5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Галька</Template>
  <TotalTime>754</TotalTime>
  <Words>94</Words>
  <Application>Microsoft Office PowerPoint</Application>
  <PresentationFormat>Широкоэкранный</PresentationFormat>
  <Paragraphs>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10" baseType="lpstr">
      <vt:lpstr>-apple-system</vt:lpstr>
      <vt:lpstr>Arial</vt:lpstr>
      <vt:lpstr>Avenir Next LT Pro</vt:lpstr>
      <vt:lpstr>Avenir Next LT Pro Light</vt:lpstr>
      <vt:lpstr>Sitka Subheading</vt:lpstr>
      <vt:lpstr>YS Text</vt:lpstr>
      <vt:lpstr>PebbleVTI</vt:lpstr>
      <vt:lpstr>SLAY Tree💅🏻 </vt:lpstr>
      <vt:lpstr>ctrl c + ctrl v с вики💅🏻</vt:lpstr>
      <vt:lpstr>Чё делает💅🏻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SLAY Tree💅🏻 </dc:title>
  <dc:creator>РАЙАН ГОСЛИНГ</dc:creator>
  <cp:lastModifiedBy>РАЙАН ГОСЛИНГ</cp:lastModifiedBy>
  <cp:revision>2</cp:revision>
  <dcterms:created xsi:type="dcterms:W3CDTF">2026-05-11T15:38:20Z</dcterms:created>
  <dcterms:modified xsi:type="dcterms:W3CDTF">2026-05-12T04:12:48Z</dcterms:modified>
</cp:coreProperties>
</file>