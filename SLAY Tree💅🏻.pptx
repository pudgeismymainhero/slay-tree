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74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61" r:id="rId17"/>
    <p:sldId id="272" r:id="rId18"/>
    <p:sldId id="271" r:id="rId19"/>
    <p:sldId id="276" r:id="rId20"/>
    <p:sldId id="263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3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0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2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6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7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6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1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3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9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9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553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480">
          <p15:clr>
            <a:srgbClr val="F26B43"/>
          </p15:clr>
        </p15:guide>
        <p15:guide id="3" pos="960">
          <p15:clr>
            <a:srgbClr val="F26B43"/>
          </p15:clr>
        </p15:guide>
        <p15:guide id="4" pos="1440">
          <p15:clr>
            <a:srgbClr val="F26B43"/>
          </p15:clr>
        </p15:guide>
        <p15:guide id="5" pos="1920">
          <p15:clr>
            <a:srgbClr val="F26B43"/>
          </p15:clr>
        </p15:guide>
        <p15:guide id="6" pos="2400">
          <p15:clr>
            <a:srgbClr val="F26B43"/>
          </p15:clr>
        </p15:guide>
        <p15:guide id="7" pos="2880">
          <p15:clr>
            <a:srgbClr val="F26B43"/>
          </p15:clr>
        </p15:guide>
        <p15:guide id="8" pos="3360">
          <p15:clr>
            <a:srgbClr val="F26B43"/>
          </p15:clr>
        </p15:guide>
        <p15:guide id="9" pos="3840">
          <p15:clr>
            <a:srgbClr val="F26B43"/>
          </p15:clr>
        </p15:guide>
        <p15:guide id="10" pos="4320">
          <p15:clr>
            <a:srgbClr val="F26B43"/>
          </p15:clr>
        </p15:guide>
        <p15:guide id="11" pos="4800">
          <p15:clr>
            <a:srgbClr val="F26B43"/>
          </p15:clr>
        </p15:guide>
        <p15:guide id="12" pos="5280">
          <p15:clr>
            <a:srgbClr val="F26B43"/>
          </p15:clr>
        </p15:guide>
        <p15:guide id="13" pos="5760">
          <p15:clr>
            <a:srgbClr val="F26B43"/>
          </p15:clr>
        </p15:guide>
        <p15:guide id="14" pos="6240">
          <p15:clr>
            <a:srgbClr val="F26B43"/>
          </p15:clr>
        </p15:guide>
        <p15:guide id="15" pos="6720">
          <p15:clr>
            <a:srgbClr val="F26B43"/>
          </p15:clr>
        </p15:guide>
        <p15:guide id="16" pos="7200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>
          <p15:clr>
            <a:srgbClr val="F26B43"/>
          </p15:clr>
        </p15:guide>
        <p15:guide id="19" orient="horz" pos="480">
          <p15:clr>
            <a:srgbClr val="F26B43"/>
          </p15:clr>
        </p15:guide>
        <p15:guide id="20" orient="horz" pos="960">
          <p15:clr>
            <a:srgbClr val="F26B43"/>
          </p15:clr>
        </p15:guide>
        <p15:guide id="21" orient="horz" pos="1440">
          <p15:clr>
            <a:srgbClr val="F26B43"/>
          </p15:clr>
        </p15:guide>
        <p15:guide id="22" orient="horz" pos="1920">
          <p15:clr>
            <a:srgbClr val="F26B43"/>
          </p15:clr>
        </p15:guide>
        <p15:guide id="23" orient="horz" pos="2400">
          <p15:clr>
            <a:srgbClr val="F26B43"/>
          </p15:clr>
        </p15:guide>
        <p15:guide id="24" orient="horz" pos="2880">
          <p15:clr>
            <a:srgbClr val="F26B43"/>
          </p15:clr>
        </p15:guide>
        <p15:guide id="25" orient="horz" pos="3360">
          <p15:clr>
            <a:srgbClr val="F26B43"/>
          </p15:clr>
        </p15:guide>
        <p15:guide id="26" orient="horz" pos="3840">
          <p15:clr>
            <a:srgbClr val="F26B43"/>
          </p15:clr>
        </p15:guide>
        <p15:guide id="27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mojidb.org/nails-emoji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0C4C8-8727-4A7A-A7E8-71CE90EFC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SLAY Tree</a:t>
            </a:r>
            <a:r>
              <a:rPr lang="ru-RU" b="1" i="0" u="none" strike="noStrike" dirty="0">
                <a:solidFill>
                  <a:srgbClr val="FFFFFF"/>
                </a:solidFill>
                <a:effectLst/>
                <a:latin typeface="YS Text"/>
                <a:hlinkClick r:id="rId2"/>
              </a:rPr>
              <a:t>💅🏻</a:t>
            </a:r>
            <a:br>
              <a:rPr lang="ru-RU" b="1" i="0" u="none" strike="noStrike" dirty="0">
                <a:solidFill>
                  <a:srgbClr val="FFFFFF"/>
                </a:solidFill>
                <a:effectLst/>
                <a:latin typeface="YS Text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4D2264-DDE2-4EDF-AB07-8FFFC1512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Расширяющееся дерево </a:t>
            </a:r>
            <a:r>
              <a:rPr lang="en-US" dirty="0" err="1"/>
              <a:t>Swagteev</a:t>
            </a:r>
            <a:r>
              <a:rPr lang="en-US" dirty="0"/>
              <a:t> Arseniy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76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CE8204-311A-4132-A985-0816F222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3015"/>
            <a:ext cx="10668000" cy="1524000"/>
          </a:xfrm>
        </p:spPr>
        <p:txBody>
          <a:bodyPr/>
          <a:lstStyle/>
          <a:p>
            <a:r>
              <a:rPr lang="en-US" dirty="0"/>
              <a:t>ctrl c + ctrl v </a:t>
            </a:r>
            <a:r>
              <a:rPr lang="ru-RU" dirty="0"/>
              <a:t>с вики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💅🏻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8CCAC3-B8BF-462D-AFAB-DCA945AAA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5099"/>
            <a:ext cx="5193957" cy="4839886"/>
          </a:xfrm>
        </p:spPr>
        <p:txBody>
          <a:bodyPr>
            <a:normAutofit fontScale="62500" lnSpcReduction="20000"/>
          </a:bodyPr>
          <a:lstStyle/>
          <a:p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В середине восьмидесятых Роберт </a:t>
            </a:r>
            <a:r>
              <a:rPr lang="ru-RU" b="0" i="0" dirty="0" err="1">
                <a:solidFill>
                  <a:srgbClr val="DEDEDE"/>
                </a:solidFill>
                <a:effectLst/>
                <a:latin typeface="-apple-system"/>
              </a:rPr>
              <a:t>Тарьян</a:t>
            </a:r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 и Даниель </a:t>
            </a:r>
            <a:r>
              <a:rPr lang="ru-RU" b="0" i="0" dirty="0" err="1">
                <a:solidFill>
                  <a:srgbClr val="DEDEDE"/>
                </a:solidFill>
                <a:effectLst/>
                <a:latin typeface="-apple-system"/>
              </a:rPr>
              <a:t>Слейтор</a:t>
            </a:r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 предложили несколько красивых и эффективных структур данных. Все они имеют несложную базовую структуру и одну-две эвристики, которые их постоянно локально подправляют. </a:t>
            </a:r>
            <a:r>
              <a:rPr lang="ru-RU" b="0" i="0" dirty="0" err="1">
                <a:solidFill>
                  <a:srgbClr val="DEDEDE"/>
                </a:solidFill>
                <a:effectLst/>
                <a:latin typeface="-apple-system"/>
              </a:rPr>
              <a:t>Splay</a:t>
            </a:r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-дерево — одна из таких структур.</a:t>
            </a:r>
            <a:br>
              <a:rPr lang="ru-RU" dirty="0"/>
            </a:br>
            <a:br>
              <a:rPr lang="ru-RU" dirty="0"/>
            </a:br>
            <a:r>
              <a:rPr lang="ru-RU" b="0" i="0" dirty="0" err="1">
                <a:solidFill>
                  <a:srgbClr val="DEDEDE"/>
                </a:solidFill>
                <a:effectLst/>
                <a:latin typeface="-apple-system"/>
              </a:rPr>
              <a:t>Splay</a:t>
            </a:r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-дерево — это самобалансирующееся бинарное дерево поиска. Дереву не нужно хранить никакой дополнительной информации, что делает его эффективным по памяти. После каждого обращения, даже поиска, </a:t>
            </a:r>
            <a:r>
              <a:rPr lang="ru-RU" b="0" i="0" dirty="0" err="1">
                <a:solidFill>
                  <a:srgbClr val="DEDEDE"/>
                </a:solidFill>
                <a:effectLst/>
                <a:latin typeface="-apple-system"/>
              </a:rPr>
              <a:t>splay</a:t>
            </a:r>
            <a:r>
              <a:rPr lang="ru-RU" b="0" i="0" dirty="0">
                <a:solidFill>
                  <a:srgbClr val="DEDEDE"/>
                </a:solidFill>
                <a:effectLst/>
                <a:latin typeface="-apple-system"/>
              </a:rPr>
              <a:t>-дерево меняет свою структуру.</a:t>
            </a:r>
            <a:endParaRPr lang="ru-RU" b="1" dirty="0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5910F46F-AD94-4F95-AB11-42B022DCB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99430" y="524725"/>
            <a:ext cx="3889846" cy="580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95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748F1-F566-4A07-A7A7-0C9C001F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Чё</a:t>
            </a:r>
            <a:r>
              <a:rPr lang="ru-RU" dirty="0"/>
              <a:t> делает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💅🏻</a:t>
            </a:r>
            <a:b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82675-184B-46F8-8152-3014296D0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(Расширяющееся дерево) — это самоорганизующаяся структура данных. Его главная идея строится на наблюдении из реальной жизни: если мы обратились к элементу, велика вероятность, что мы обратимся к нему снова в ближайшее время.</a:t>
            </a:r>
          </a:p>
          <a:p>
            <a:pPr marL="0" indent="0">
              <a:buNone/>
            </a:pPr>
            <a:r>
              <a:rPr lang="ru-RU" dirty="0"/>
              <a:t>В отличие от других деревьев (например, AVL или Красно-черных), которые стремятся всегда быть идеально сбалансированными, </a:t>
            </a: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не заботится о балансе в конкретный момент времени. Оно заботится о том, чтобы часто используемые данные были легко 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262694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2611A-A633-4774-929D-BE198503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</a:t>
            </a:r>
            <a:r>
              <a:rPr lang="en-US" dirty="0"/>
              <a:t> s(p)lay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DC2F8-A8F7-4AE5-812E-779FA76AA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"</a:t>
            </a:r>
            <a:r>
              <a:rPr lang="ru-RU" dirty="0" err="1"/>
              <a:t>splay</a:t>
            </a:r>
            <a:r>
              <a:rPr lang="ru-RU" dirty="0"/>
              <a:t>" делится на 3 случая:</a:t>
            </a:r>
          </a:p>
          <a:p>
            <a:pPr marL="0" indent="0">
              <a:buNone/>
            </a:pPr>
            <a:r>
              <a:rPr lang="en-US" dirty="0"/>
              <a:t>Z</a:t>
            </a:r>
            <a:r>
              <a:rPr lang="ru-RU" dirty="0" err="1"/>
              <a:t>ig</a:t>
            </a:r>
            <a:r>
              <a:rPr lang="ru-RU" dirty="0"/>
              <a:t>: Если p — корень дерева с сыном x, то совершаем один поворот вокруг ребра (</a:t>
            </a:r>
            <a:r>
              <a:rPr lang="ru-RU" dirty="0" err="1"/>
              <a:t>x,p</a:t>
            </a:r>
            <a:r>
              <a:rPr lang="ru-RU" dirty="0"/>
              <a:t>), делая x корнем дерева.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A7E213F-D432-4932-B8E4-C3D54479B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828" y="4195041"/>
            <a:ext cx="7462344" cy="177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33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394486-9720-4447-96CF-0540829F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46386"/>
            <a:ext cx="10668000" cy="3818083"/>
          </a:xfrm>
        </p:spPr>
        <p:txBody>
          <a:bodyPr>
            <a:normAutofit/>
          </a:bodyPr>
          <a:lstStyle/>
          <a:p>
            <a:r>
              <a:rPr lang="ru-RU" dirty="0" err="1"/>
              <a:t>zig-zig</a:t>
            </a:r>
            <a:r>
              <a:rPr lang="ru-RU" dirty="0"/>
              <a:t>: Если p — не корень дерева, а x и p — оба левые или оба правые дети, то делаем поворот ребра (</a:t>
            </a:r>
            <a:r>
              <a:rPr lang="ru-RU" dirty="0" err="1"/>
              <a:t>p,g</a:t>
            </a:r>
            <a:r>
              <a:rPr lang="ru-RU" dirty="0"/>
              <a:t>), где g — отец p, а затем поворот ребра (</a:t>
            </a:r>
            <a:r>
              <a:rPr lang="ru-RU" dirty="0" err="1"/>
              <a:t>x,p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325A555-545D-480A-BBC4-0800E876C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922" y="2302306"/>
            <a:ext cx="7154156" cy="43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80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394486-9720-4447-96CF-0540829F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46386"/>
            <a:ext cx="10668000" cy="3818083"/>
          </a:xfrm>
        </p:spPr>
        <p:txBody>
          <a:bodyPr>
            <a:normAutofit/>
          </a:bodyPr>
          <a:lstStyle/>
          <a:p>
            <a:r>
              <a:rPr lang="ru-RU" dirty="0" err="1"/>
              <a:t>zig-zag</a:t>
            </a:r>
            <a:r>
              <a:rPr lang="ru-RU" dirty="0"/>
              <a:t>: Если p — не корень дерева и x — левый ребенок, а p — правый, или наоборот, то делаем поворот вокруг ребра (</a:t>
            </a:r>
            <a:r>
              <a:rPr lang="ru-RU" dirty="0" err="1"/>
              <a:t>x,p</a:t>
            </a:r>
            <a:r>
              <a:rPr lang="ru-RU" dirty="0"/>
              <a:t>), а затем поворот нового ребра (</a:t>
            </a:r>
            <a:r>
              <a:rPr lang="ru-RU" dirty="0" err="1"/>
              <a:t>x,g</a:t>
            </a:r>
            <a:r>
              <a:rPr lang="ru-RU" dirty="0"/>
              <a:t>), где g — бывший родитель p.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325A555-545D-480A-BBC4-0800E876C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922" y="2302306"/>
            <a:ext cx="7154156" cy="43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5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38C4E-B621-44DF-8D0C-8525C066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57B9D-AB11-4126-A144-679D2327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6846"/>
            <a:ext cx="10983310" cy="47185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Спуск: Мы начинаем с корня и идем вниз, сравнивая искомое число с текущим узлом. Если ищем меньшее — идем влево, если большее — вправо.</a:t>
            </a:r>
          </a:p>
          <a:p>
            <a:pPr marL="0" indent="0">
              <a:buNone/>
            </a:pPr>
            <a:r>
              <a:rPr lang="ru-RU" dirty="0"/>
              <a:t>Фиксация последнего: Мы запоминаем последний узел, на котором остановились (даже если искомое число не нашли, мы запомнили «ближайшего соседа»).</a:t>
            </a:r>
          </a:p>
          <a:p>
            <a:pPr marL="0" indent="0">
              <a:buNone/>
            </a:pPr>
            <a:r>
              <a:rPr lang="ru-RU" dirty="0"/>
              <a:t>Подтягивание (</a:t>
            </a:r>
            <a:r>
              <a:rPr lang="ru-RU" dirty="0" err="1"/>
              <a:t>Splay</a:t>
            </a:r>
            <a:r>
              <a:rPr lang="ru-RU" dirty="0"/>
              <a:t>):</a:t>
            </a:r>
          </a:p>
          <a:p>
            <a:r>
              <a:rPr lang="ru-RU" dirty="0"/>
              <a:t>Если число нашли: мы берем этот найденный узел и с помощью поворотов поднимаем его в корень.</a:t>
            </a:r>
          </a:p>
          <a:p>
            <a:r>
              <a:rPr lang="ru-RU" dirty="0"/>
              <a:t>Если число не нашли: мы берем тот самый «последний посещенный узел» (ближайший по значению) и поднимаем его в корень.</a:t>
            </a:r>
          </a:p>
        </p:txBody>
      </p:sp>
    </p:spTree>
    <p:extLst>
      <p:ext uri="{BB962C8B-B14F-4D97-AF65-F5344CB8AC3E}">
        <p14:creationId xmlns:p14="http://schemas.microsoft.com/office/powerpoint/2010/main" val="281010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4A3D1-7081-4F0E-9C1A-FB5B4A4D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Вставка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01616B-3807-4DF8-BA3D-7036E6800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66456"/>
            <a:ext cx="10668000" cy="43376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Вставка состоит из двух этапов: сначала мы вставляем элемент как в обычное дерево, а потом «активируем» его.</a:t>
            </a:r>
          </a:p>
          <a:p>
            <a:pPr marL="0" indent="0">
              <a:buNone/>
            </a:pPr>
            <a:r>
              <a:rPr lang="ru-RU" dirty="0"/>
              <a:t>Поиск места: Мы спускаемся от корня, пока не найдем пустое место (</a:t>
            </a:r>
            <a:r>
              <a:rPr lang="ru-RU" dirty="0" err="1"/>
              <a:t>null</a:t>
            </a:r>
            <a:r>
              <a:rPr lang="ru-RU" dirty="0"/>
              <a:t>), куда можно прицепить новый узел.</a:t>
            </a:r>
          </a:p>
          <a:p>
            <a:pPr marL="0" indent="0">
              <a:buNone/>
            </a:pPr>
            <a:r>
              <a:rPr lang="ru-RU" dirty="0"/>
              <a:t>Вставка: Мы создаем новый узел и вешаем его на найденное место (как лист).</a:t>
            </a:r>
          </a:p>
          <a:p>
            <a:pPr marL="0" indent="0">
              <a:buNone/>
            </a:pPr>
            <a:r>
              <a:rPr lang="ru-RU" dirty="0"/>
              <a:t>Подтягивание (</a:t>
            </a:r>
            <a:r>
              <a:rPr lang="ru-RU" dirty="0" err="1"/>
              <a:t>Splay</a:t>
            </a:r>
            <a:r>
              <a:rPr lang="ru-RU" dirty="0"/>
              <a:t>): Сразу после вставки мы берем этот </a:t>
            </a:r>
            <a:r>
              <a:rPr lang="ru-RU" dirty="0" err="1"/>
              <a:t>новосозданный</a:t>
            </a:r>
            <a:r>
              <a:rPr lang="ru-RU" dirty="0"/>
              <a:t> узел и поднимаем его в корень.</a:t>
            </a:r>
          </a:p>
          <a:p>
            <a:pPr marL="0" indent="0">
              <a:buNone/>
            </a:pPr>
            <a:r>
              <a:rPr lang="ru-RU" dirty="0"/>
              <a:t>Результат: новый элемент сразу становится самым доступным (корнем). Если мы сейчас же захотим его найти или удалить, это займет минимум времени (1 шаг).</a:t>
            </a:r>
          </a:p>
        </p:txBody>
      </p:sp>
    </p:spTree>
    <p:extLst>
      <p:ext uri="{BB962C8B-B14F-4D97-AF65-F5344CB8AC3E}">
        <p14:creationId xmlns:p14="http://schemas.microsoft.com/office/powerpoint/2010/main" val="76111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3586E-FC61-4F8F-A9DC-C0A410D5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19100"/>
            <a:ext cx="10668000" cy="1524000"/>
          </a:xfrm>
        </p:spPr>
        <p:txBody>
          <a:bodyPr/>
          <a:lstStyle/>
          <a:p>
            <a:r>
              <a:rPr lang="ru-RU" dirty="0"/>
              <a:t>Удаление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02F82-EBDF-4160-8997-6B9A80FE2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19958"/>
            <a:ext cx="10782300" cy="49189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Поиск и подъем: Сначала мы ищем удаляемый элемент. Как только находим, операция поиска автоматически поднимает его в корень. Теперь удаляемый элемент — это верхушка дерева.</a:t>
            </a:r>
          </a:p>
          <a:p>
            <a:pPr marL="0" indent="0">
              <a:buNone/>
            </a:pPr>
            <a:r>
              <a:rPr lang="ru-RU" dirty="0"/>
              <a:t>Разрыв связей: Мы «отрезаем» корень. У нас остается два отдельных дерева: Левое (все числа меньше удаляемого) и Правое (все числа больше).</a:t>
            </a:r>
          </a:p>
          <a:p>
            <a:pPr marL="0" indent="0">
              <a:buNone/>
            </a:pPr>
            <a:r>
              <a:rPr lang="ru-RU" dirty="0"/>
              <a:t>Поиск нового лидера: Нам нужно соединить Левое и Правое дерево. Для этого мы идем в Левое дерево и ищем там максимальный элемент (самый правый узел в левой ветке).</a:t>
            </a:r>
          </a:p>
          <a:p>
            <a:pPr marL="0" indent="0">
              <a:buNone/>
            </a:pPr>
            <a:r>
              <a:rPr lang="ru-RU" dirty="0"/>
              <a:t>Подтягивание лидера: Мы поднимаем этот максимальный элемент в корень Левого дерева.</a:t>
            </a:r>
          </a:p>
          <a:p>
            <a:pPr marL="0" indent="0">
              <a:buNone/>
            </a:pPr>
            <a:r>
              <a:rPr lang="ru-RU" dirty="0"/>
              <a:t>Важный нюанс: Так как это был максимальный элемент, у него гарантированно нет правого ребенка. Его правая рука свободна.</a:t>
            </a:r>
          </a:p>
          <a:p>
            <a:pPr marL="0" indent="0">
              <a:buNone/>
            </a:pPr>
            <a:r>
              <a:rPr lang="ru-RU" dirty="0"/>
              <a:t>Склейка: Мы берем всё Правое дерево (от которого мы оторвали корень в шаге 2) и вешаем его на свободное правое место нашего нового лидера.</a:t>
            </a:r>
          </a:p>
        </p:txBody>
      </p:sp>
    </p:spTree>
    <p:extLst>
      <p:ext uri="{BB962C8B-B14F-4D97-AF65-F5344CB8AC3E}">
        <p14:creationId xmlns:p14="http://schemas.microsoft.com/office/powerpoint/2010/main" val="382479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91337-0330-42C3-A37C-198659EB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D0FD30A-FC84-461C-9FD0-158E9E332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7332" y="3429000"/>
            <a:ext cx="7037336" cy="1531938"/>
          </a:xfrm>
        </p:spPr>
      </p:pic>
    </p:spTree>
    <p:extLst>
      <p:ext uri="{BB962C8B-B14F-4D97-AF65-F5344CB8AC3E}">
        <p14:creationId xmlns:p14="http://schemas.microsoft.com/office/powerpoint/2010/main" val="1389860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A0CDE-E3F6-4FA0-8982-E9355778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AA1B0F-CC33-4527-9F9A-C430FE7B5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72" y="3767960"/>
            <a:ext cx="11703256" cy="854018"/>
          </a:xfrm>
        </p:spPr>
      </p:pic>
    </p:spTree>
    <p:extLst>
      <p:ext uri="{BB962C8B-B14F-4D97-AF65-F5344CB8AC3E}">
        <p14:creationId xmlns:p14="http://schemas.microsoft.com/office/powerpoint/2010/main" val="5051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00702-C58F-48A0-A742-BF0C328A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F48E99F-E717-43F7-BC66-8A910EC3F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4185" y="3783725"/>
            <a:ext cx="7003630" cy="822488"/>
          </a:xfrm>
        </p:spPr>
      </p:pic>
    </p:spTree>
    <p:extLst>
      <p:ext uri="{BB962C8B-B14F-4D97-AF65-F5344CB8AC3E}">
        <p14:creationId xmlns:p14="http://schemas.microsoft.com/office/powerpoint/2010/main" val="120434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B669A-FB71-45DE-9441-86E02906E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A1F754-9D1E-4956-85AD-1009A1A7F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016" y="3752194"/>
            <a:ext cx="9221968" cy="885550"/>
          </a:xfrm>
        </p:spPr>
      </p:pic>
    </p:spTree>
    <p:extLst>
      <p:ext uri="{BB962C8B-B14F-4D97-AF65-F5344CB8AC3E}">
        <p14:creationId xmlns:p14="http://schemas.microsoft.com/office/powerpoint/2010/main" val="2245719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26292-48FA-4FAE-993B-570BA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DEA2389-F79D-4C22-AF69-7F26B7F5B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194" y="3578773"/>
            <a:ext cx="6267612" cy="1232392"/>
          </a:xfrm>
        </p:spPr>
      </p:pic>
    </p:spTree>
    <p:extLst>
      <p:ext uri="{BB962C8B-B14F-4D97-AF65-F5344CB8AC3E}">
        <p14:creationId xmlns:p14="http://schemas.microsoft.com/office/powerpoint/2010/main" val="290665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AF05D-82C6-4661-9151-E8C08055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092ACA-FDD3-42AA-9868-9377C4A3B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632" y="3547241"/>
            <a:ext cx="7772736" cy="1295456"/>
          </a:xfrm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CDB51E92-A345-4C21-941B-536F98D2E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92" y="2880153"/>
            <a:ext cx="3550908" cy="232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310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52459-D75E-47AA-B794-5AC0D012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DEACDB1-84D2-4339-A755-765A3EB5A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8262" y="3209131"/>
            <a:ext cx="9515475" cy="1971675"/>
          </a:xfrm>
        </p:spPr>
      </p:pic>
    </p:spTree>
    <p:extLst>
      <p:ext uri="{BB962C8B-B14F-4D97-AF65-F5344CB8AC3E}">
        <p14:creationId xmlns:p14="http://schemas.microsoft.com/office/powerpoint/2010/main" val="2991206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AE8F7-D91E-48BB-A053-5488D98C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0C30DB-0E78-4F74-941F-E37169720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710" y="2929243"/>
            <a:ext cx="9732580" cy="2531452"/>
          </a:xfrm>
        </p:spPr>
      </p:pic>
    </p:spTree>
    <p:extLst>
      <p:ext uri="{BB962C8B-B14F-4D97-AF65-F5344CB8AC3E}">
        <p14:creationId xmlns:p14="http://schemas.microsoft.com/office/powerpoint/2010/main" val="4166424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82182-40DA-4B0A-8624-CE80ED2B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выбирать </a:t>
            </a: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?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D976F-7C9A-4A1F-A45C-0E5013556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Выбирайте </a:t>
            </a: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, если:</a:t>
            </a:r>
          </a:p>
          <a:p>
            <a:r>
              <a:rPr lang="ru-RU" dirty="0"/>
              <a:t>🔸 Доступ к данным неравномерный (некоторые элементы запрашиваются в 10–100 раз чаще других)</a:t>
            </a:r>
          </a:p>
          <a:p>
            <a:r>
              <a:rPr lang="ru-RU" dirty="0"/>
              <a:t>🔸 Критична экономия памяти (нет места для флагов баланса)</a:t>
            </a:r>
          </a:p>
          <a:p>
            <a:r>
              <a:rPr lang="ru-RU" dirty="0"/>
              <a:t>🔸 Не требуется гарантированное время каждой отдельной операции</a:t>
            </a:r>
          </a:p>
          <a:p>
            <a:r>
              <a:rPr lang="ru-RU" dirty="0"/>
              <a:t>🔸 Приложение однопоточное (</a:t>
            </a:r>
            <a:r>
              <a:rPr lang="ru-RU" dirty="0" err="1"/>
              <a:t>Splay</a:t>
            </a:r>
            <a:r>
              <a:rPr lang="ru-RU" dirty="0"/>
              <a:t> сложно адаптировать под многопоточность)</a:t>
            </a:r>
          </a:p>
          <a:p>
            <a:r>
              <a:rPr lang="ru-RU" dirty="0"/>
              <a:t>🔸 Важна простота реализации (код короче, чем у красно-чёрного дерева)</a:t>
            </a:r>
          </a:p>
        </p:txBody>
      </p:sp>
    </p:spTree>
    <p:extLst>
      <p:ext uri="{BB962C8B-B14F-4D97-AF65-F5344CB8AC3E}">
        <p14:creationId xmlns:p14="http://schemas.microsoft.com/office/powerpoint/2010/main" val="2568463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82182-40DA-4B0A-8624-CE80ED2B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</a:t>
            </a:r>
            <a:r>
              <a:rPr lang="en-US" dirty="0"/>
              <a:t> </a:t>
            </a:r>
            <a:r>
              <a:rPr lang="ru-RU" dirty="0"/>
              <a:t>не выбирать </a:t>
            </a: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?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D976F-7C9A-4A1F-A45C-0E5013556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Не выбирайте </a:t>
            </a:r>
            <a:r>
              <a:rPr lang="ru-RU" dirty="0" err="1"/>
              <a:t>Splay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, если: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🔹 Нужна 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строгая гарантия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ru-RU" b="0" i="0" dirty="0">
                <a:solidFill>
                  <a:srgbClr val="F7F8FC"/>
                </a:solidFill>
                <a:effectLst/>
                <a:latin typeface="KaTeX_Main"/>
              </a:rPr>
              <a:t>O(</a:t>
            </a:r>
            <a:r>
              <a:rPr lang="ru-RU" b="0" i="0" dirty="0" err="1">
                <a:solidFill>
                  <a:srgbClr val="F7F8FC"/>
                </a:solidFill>
                <a:effectLst/>
                <a:latin typeface="KaTeX_Main"/>
              </a:rPr>
              <a:t>log⁡n</a:t>
            </a:r>
            <a:r>
              <a:rPr lang="ru-RU" b="0" i="0" dirty="0">
                <a:solidFill>
                  <a:srgbClr val="F7F8FC"/>
                </a:solidFill>
                <a:effectLst/>
                <a:latin typeface="KaTeX_Main"/>
              </a:rPr>
              <a:t>)</a:t>
            </a:r>
            <a:r>
              <a:rPr lang="ru-RU" i="1" dirty="0">
                <a:solidFill>
                  <a:srgbClr val="F7F8FC"/>
                </a:solidFill>
                <a:latin typeface="KaTeX_Math"/>
              </a:rPr>
              <a:t> 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на каждую операцию (выберите AVL или красно-чёрное дерево)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🔹 Система 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реального времени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(</a:t>
            </a:r>
            <a:r>
              <a:rPr lang="ru-RU" b="0" i="0" dirty="0" err="1">
                <a:solidFill>
                  <a:srgbClr val="F7F8FC"/>
                </a:solidFill>
                <a:effectLst/>
                <a:latin typeface="system-ui"/>
              </a:rPr>
              <a:t>hard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F7F8FC"/>
                </a:solidFill>
                <a:effectLst/>
                <a:latin typeface="system-ui"/>
              </a:rPr>
              <a:t>real-time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), где недопустимы «просадки» до </a:t>
            </a:r>
            <a:r>
              <a:rPr lang="ru-RU" b="0" i="0" dirty="0">
                <a:solidFill>
                  <a:srgbClr val="F7F8FC"/>
                </a:solidFill>
                <a:effectLst/>
                <a:latin typeface="KaTeX_Main"/>
              </a:rPr>
              <a:t>O(n)</a:t>
            </a:r>
            <a:r>
              <a:rPr lang="ru-RU" b="0" i="1" dirty="0">
                <a:solidFill>
                  <a:srgbClr val="F7F8FC"/>
                </a:solidFill>
                <a:effectLst/>
                <a:latin typeface="KaTeX_Math"/>
              </a:rPr>
              <a:t>O</a:t>
            </a:r>
            <a:r>
              <a:rPr lang="ru-RU" b="0" i="0" dirty="0">
                <a:solidFill>
                  <a:srgbClr val="F7F8FC"/>
                </a:solidFill>
                <a:effectLst/>
                <a:latin typeface="KaTeX_Main"/>
              </a:rPr>
              <a:t>(</a:t>
            </a:r>
            <a:r>
              <a:rPr lang="ru-RU" b="0" i="1" dirty="0">
                <a:solidFill>
                  <a:srgbClr val="F7F8FC"/>
                </a:solidFill>
                <a:effectLst/>
                <a:latin typeface="KaTeX_Math"/>
              </a:rPr>
              <a:t>n</a:t>
            </a:r>
            <a:r>
              <a:rPr lang="ru-RU" b="0" i="0" dirty="0">
                <a:solidFill>
                  <a:srgbClr val="F7F8FC"/>
                </a:solidFill>
                <a:effectLst/>
                <a:latin typeface="KaTeX_Main"/>
              </a:rPr>
              <a:t>)</a:t>
            </a:r>
            <a:endParaRPr lang="ru-RU" b="0" i="0" dirty="0">
              <a:solidFill>
                <a:srgbClr val="F7F8FC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🔹 Требуется 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многопоточный доступ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(частые ротации усложняют синхронизацию)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🔹 Структура должна быть 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неизменяемой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(</a:t>
            </a:r>
            <a:r>
              <a:rPr lang="ru-RU" b="0" i="0" dirty="0" err="1">
                <a:solidFill>
                  <a:srgbClr val="F7F8FC"/>
                </a:solidFill>
                <a:effectLst/>
                <a:latin typeface="system-ui"/>
              </a:rPr>
              <a:t>immutable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), так как </a:t>
            </a:r>
            <a:r>
              <a:rPr lang="ru-RU" b="0" i="0" dirty="0" err="1">
                <a:solidFill>
                  <a:srgbClr val="F7F8FC"/>
                </a:solidFill>
                <a:effectLst/>
                <a:latin typeface="system-ui"/>
              </a:rPr>
              <a:t>Splay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меняет дерево даже при чтении</a:t>
            </a:r>
          </a:p>
        </p:txBody>
      </p:sp>
    </p:spTree>
    <p:extLst>
      <p:ext uri="{BB962C8B-B14F-4D97-AF65-F5344CB8AC3E}">
        <p14:creationId xmlns:p14="http://schemas.microsoft.com/office/powerpoint/2010/main" val="3343693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FF42F-642A-4236-BCAB-B056B4B1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конец </a:t>
            </a:r>
            <a:r>
              <a:rPr lang="en-US" dirty="0"/>
              <a:t>[</a:t>
            </a:r>
            <a:r>
              <a:rPr lang="ru-RU" dirty="0" err="1"/>
              <a:t>ноготочки</a:t>
            </a:r>
            <a:r>
              <a:rPr lang="en-US" dirty="0"/>
              <a:t>]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 💅🏻 💅🏻</a:t>
            </a:r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29F89052-A295-4549-9AAF-C375F9E6AB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649" y="2286000"/>
            <a:ext cx="8000701" cy="381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894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58825-8093-47FB-9DA3-9B7B665F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47145"/>
            <a:ext cx="10668000" cy="1524000"/>
          </a:xfrm>
        </p:spPr>
        <p:txBody>
          <a:bodyPr/>
          <a:lstStyle/>
          <a:p>
            <a:r>
              <a:rPr lang="en-US" dirty="0"/>
              <a:t>git</a:t>
            </a:r>
            <a:r>
              <a:rPr lang="ru-RU" b="1" i="0" u="none" strike="noStrike" dirty="0">
                <a:solidFill>
                  <a:srgbClr val="8BB4DD"/>
                </a:solidFill>
                <a:effectLst/>
                <a:latin typeface="YS Text"/>
                <a:hlinkClick r:id="rId2"/>
              </a:rPr>
              <a:t> 💅🏻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B3B1121-4FBD-47C6-B238-8506AC7C1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93" y="1255986"/>
            <a:ext cx="5602014" cy="5602014"/>
          </a:xfrm>
        </p:spPr>
      </p:pic>
    </p:spTree>
    <p:extLst>
      <p:ext uri="{BB962C8B-B14F-4D97-AF65-F5344CB8AC3E}">
        <p14:creationId xmlns:p14="http://schemas.microsoft.com/office/powerpoint/2010/main" val="1067603751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Галька</Template>
  <TotalTime>850</TotalTime>
  <Words>850</Words>
  <Application>Microsoft Office PowerPoint</Application>
  <PresentationFormat>Широкоэкранный</PresentationFormat>
  <Paragraphs>47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1" baseType="lpstr">
      <vt:lpstr>-apple-system</vt:lpstr>
      <vt:lpstr>Arial</vt:lpstr>
      <vt:lpstr>Avenir Next LT Pro</vt:lpstr>
      <vt:lpstr>Avenir Next LT Pro Light</vt:lpstr>
      <vt:lpstr>KaTeX_Main</vt:lpstr>
      <vt:lpstr>KaTeX_Math</vt:lpstr>
      <vt:lpstr>Sitka Subheading</vt:lpstr>
      <vt:lpstr>system-ui</vt:lpstr>
      <vt:lpstr>YS Text</vt:lpstr>
      <vt:lpstr>PebbleVTI</vt:lpstr>
      <vt:lpstr>SLAY Tree💅🏻 </vt:lpstr>
      <vt:lpstr>ctrl c + ctrl v с вики💅🏻</vt:lpstr>
      <vt:lpstr>Чё делает💅🏻 </vt:lpstr>
      <vt:lpstr>Принцип s(p)lay 💅🏻</vt:lpstr>
      <vt:lpstr>Презентация PowerPoint</vt:lpstr>
      <vt:lpstr>Презентация PowerPoint</vt:lpstr>
      <vt:lpstr>Поиск 💅🏻</vt:lpstr>
      <vt:lpstr>Вставка 💅🏻</vt:lpstr>
      <vt:lpstr>Удаление 💅🏻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Сложность 💅🏻</vt:lpstr>
      <vt:lpstr>Презентация PowerPoint</vt:lpstr>
      <vt:lpstr>Когда выбирать Splay Tree? 💅🏻 </vt:lpstr>
      <vt:lpstr>Когда не выбирать Splay Tree? 💅🏻 </vt:lpstr>
      <vt:lpstr>конец [ноготочки] 💅🏻 💅🏻 💅🏻</vt:lpstr>
      <vt:lpstr>git 💅🏻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 Tree💅🏻 </dc:title>
  <dc:creator>РАЙАН ГОСЛИНГ</dc:creator>
  <cp:lastModifiedBy>РАЙАН ГОСЛИНГ</cp:lastModifiedBy>
  <cp:revision>10</cp:revision>
  <dcterms:created xsi:type="dcterms:W3CDTF">2026-05-11T15:38:20Z</dcterms:created>
  <dcterms:modified xsi:type="dcterms:W3CDTF">2026-05-12T11:16:40Z</dcterms:modified>
</cp:coreProperties>
</file>